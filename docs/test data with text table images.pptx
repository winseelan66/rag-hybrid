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6" r:id="rId4"/>
  </p:sldMasterIdLst>
  <p:sldIdLst>
    <p:sldId id="257" r:id="rId5"/>
    <p:sldId id="258" r:id="rId6"/>
    <p:sldId id="259" r:id="rId7"/>
    <p:sldId id="264" r:id="rId8"/>
    <p:sldId id="260" r:id="rId9"/>
    <p:sldId id="263" r:id="rId10"/>
    <p:sldId id="262" r:id="rId11"/>
    <p:sldId id="261"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BA8B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4" autoAdjust="0"/>
    <p:restoredTop sz="94660"/>
  </p:normalViewPr>
  <p:slideViewPr>
    <p:cSldViewPr snapToGrid="0">
      <p:cViewPr varScale="1">
        <p:scale>
          <a:sx n="89" d="100"/>
          <a:sy n="89" d="100"/>
        </p:scale>
        <p:origin x="618"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theme" Target="theme/theme1.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9E3965E-AC41-4711-9D10-E25ABB132D86}"/>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90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645152"/>
            <a:ext cx="10058400" cy="1143000"/>
          </a:xfrm>
        </p:spPr>
        <p:txBody>
          <a:bodyPr lIns="91440" rIns="91440">
            <a:normAutofit/>
          </a:bodyPr>
          <a:lstStyle>
            <a:lvl1pPr marL="0" indent="0" algn="l">
              <a:buNone/>
              <a:defRPr sz="2400" cap="all" spc="200" baseline="0">
                <a:solidFill>
                  <a:schemeClr val="tx1"/>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cxnSp>
        <p:nvCxnSpPr>
          <p:cNvPr id="9" name="Straight Connector 8">
            <a:extLst>
              <a:ext uri="{FF2B5EF4-FFF2-40B4-BE49-F238E27FC236}">
                <a16:creationId xmlns:a16="http://schemas.microsoft.com/office/drawing/2014/main" id="{1F5DC8C3-BA5F-4EED-BB9A-A14272BD82A1}"/>
              </a:ext>
            </a:extLst>
          </p:cNvPr>
          <p:cNvCxnSpPr/>
          <p:nvPr/>
        </p:nvCxnSpPr>
        <p:spPr>
          <a:xfrm>
            <a:off x="1207658" y="4474741"/>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9925CCF1-92C0-4AF3-BFAF-4921631915AB}"/>
              </a:ext>
            </a:extLst>
          </p:cNvPr>
          <p:cNvSpPr>
            <a:spLocks noGrp="1"/>
          </p:cNvSpPr>
          <p:nvPr>
            <p:ph type="dt" sz="half" idx="10"/>
          </p:nvPr>
        </p:nvSpPr>
        <p:spPr/>
        <p:txBody>
          <a:bodyPr/>
          <a:lstStyle/>
          <a:p>
            <a:fld id="{9184DA70-C731-4C70-880D-CCD4705E623C}" type="datetime1">
              <a:rPr lang="en-US" smtClean="0"/>
              <a:t>29-Apr-26</a:t>
            </a:fld>
            <a:endParaRPr lang="en-US" dirty="0"/>
          </a:p>
        </p:txBody>
      </p:sp>
      <p:sp>
        <p:nvSpPr>
          <p:cNvPr id="5" name="Footer Placeholder 4">
            <a:extLst>
              <a:ext uri="{FF2B5EF4-FFF2-40B4-BE49-F238E27FC236}">
                <a16:creationId xmlns:a16="http://schemas.microsoft.com/office/drawing/2014/main" id="{051A78A9-3DFF-4937-A9F2-5D8CF495F36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FAEB271-5CC0-4759-BC6E-8BE53AB227C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2583314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354D8B55-9EA8-4B81-8E84-9B93B0A27559}"/>
              </a:ext>
            </a:extLst>
          </p:cNvPr>
          <p:cNvSpPr>
            <a:spLocks noGrp="1"/>
          </p:cNvSpPr>
          <p:nvPr>
            <p:ph type="dt" sz="half" idx="10"/>
          </p:nvPr>
        </p:nvSpPr>
        <p:spPr/>
        <p:txBody>
          <a:bodyPr/>
          <a:lstStyle/>
          <a:p>
            <a:fld id="{4BE1D723-8F53-4F53-90B0-1982A396982E}" type="datetime1">
              <a:rPr lang="en-US" smtClean="0"/>
              <a:t>29-Apr-26</a:t>
            </a:fld>
            <a:endParaRPr lang="en-US" dirty="0"/>
          </a:p>
        </p:txBody>
      </p:sp>
      <p:sp>
        <p:nvSpPr>
          <p:cNvPr id="8" name="Footer Placeholder 7">
            <a:extLst>
              <a:ext uri="{FF2B5EF4-FFF2-40B4-BE49-F238E27FC236}">
                <a16:creationId xmlns:a16="http://schemas.microsoft.com/office/drawing/2014/main" id="{062CA021-2578-47CB-822C-BDDFF7223B28}"/>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C4AAB51D-4141-4682-9375-DAFD5FB9DD1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926706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585C21A-8B93-4657-B5DF-7EAEAD3BE127}"/>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90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663440"/>
            <a:ext cx="10058400" cy="1143000"/>
          </a:xfrm>
        </p:spPr>
        <p:txBody>
          <a:bodyPr lIns="91440" rIns="91440" anchor="t" anchorCtr="0">
            <a:normAutofit/>
          </a:bodyPr>
          <a:lstStyle>
            <a:lvl1pPr marL="0" indent="0">
              <a:buNone/>
              <a:defRPr sz="2400" cap="all" spc="200" baseline="0">
                <a:solidFill>
                  <a:schemeClr val="tx1"/>
                </a:solidFill>
                <a:latin typeface="+mn-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cxnSp>
        <p:nvCxnSpPr>
          <p:cNvPr id="9" name="Straight Connector 8">
            <a:extLst>
              <a:ext uri="{FF2B5EF4-FFF2-40B4-BE49-F238E27FC236}">
                <a16:creationId xmlns:a16="http://schemas.microsoft.com/office/drawing/2014/main" id="{459DE2C1-4C52-40A3-8959-27B2C1BEBFF6}"/>
              </a:ext>
            </a:extLst>
          </p:cNvPr>
          <p:cNvCxnSpPr/>
          <p:nvPr/>
        </p:nvCxnSpPr>
        <p:spPr>
          <a:xfrm>
            <a:off x="1207658" y="4485132"/>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7" name="Date Placeholder 6">
            <a:extLst>
              <a:ext uri="{FF2B5EF4-FFF2-40B4-BE49-F238E27FC236}">
                <a16:creationId xmlns:a16="http://schemas.microsoft.com/office/drawing/2014/main" id="{AAF2E137-EC28-48F8-9198-1F02539029B6}"/>
              </a:ext>
            </a:extLst>
          </p:cNvPr>
          <p:cNvSpPr>
            <a:spLocks noGrp="1"/>
          </p:cNvSpPr>
          <p:nvPr>
            <p:ph type="dt" sz="half" idx="10"/>
          </p:nvPr>
        </p:nvSpPr>
        <p:spPr/>
        <p:txBody>
          <a:bodyPr/>
          <a:lstStyle/>
          <a:p>
            <a:fld id="{97669AF7-7BEB-44E4-9852-375E34362B5B}" type="datetime1">
              <a:rPr lang="en-US" smtClean="0"/>
              <a:t>29-Apr-26</a:t>
            </a:fld>
            <a:endParaRPr lang="en-US" dirty="0"/>
          </a:p>
        </p:txBody>
      </p:sp>
      <p:sp>
        <p:nvSpPr>
          <p:cNvPr id="8" name="Footer Placeholder 7">
            <a:extLst>
              <a:ext uri="{FF2B5EF4-FFF2-40B4-BE49-F238E27FC236}">
                <a16:creationId xmlns:a16="http://schemas.microsoft.com/office/drawing/2014/main" id="{189422CD-6F62-4DD6-89EF-07A60B42D219}"/>
              </a:ext>
            </a:extLst>
          </p:cNvPr>
          <p:cNvSpPr>
            <a:spLocks noGrp="1"/>
          </p:cNvSpPr>
          <p:nvPr>
            <p:ph type="ftr" sz="quarter" idx="11"/>
          </p:nvPr>
        </p:nvSpPr>
        <p:spPr/>
        <p:txBody>
          <a:bodyPr/>
          <a:lstStyle/>
          <a:p>
            <a:endParaRPr lang="en-US" dirty="0"/>
          </a:p>
        </p:txBody>
      </p:sp>
      <p:sp>
        <p:nvSpPr>
          <p:cNvPr id="11" name="Slide Number Placeholder 10">
            <a:extLst>
              <a:ext uri="{FF2B5EF4-FFF2-40B4-BE49-F238E27FC236}">
                <a16:creationId xmlns:a16="http://schemas.microsoft.com/office/drawing/2014/main" id="{69C6AFF8-42B4-4D05-969B-9F5FB335555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3041625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2120900"/>
            <a:ext cx="4639736" cy="37481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15944" y="2120900"/>
            <a:ext cx="4639736" cy="37481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5782D47D-B0DC-4C40-BCC6-BBBA32584A38}"/>
              </a:ext>
            </a:extLst>
          </p:cNvPr>
          <p:cNvSpPr>
            <a:spLocks noGrp="1"/>
          </p:cNvSpPr>
          <p:nvPr>
            <p:ph type="dt" sz="half" idx="10"/>
          </p:nvPr>
        </p:nvSpPr>
        <p:spPr/>
        <p:txBody>
          <a:bodyPr/>
          <a:lstStyle/>
          <a:p>
            <a:fld id="{BAAAC38D-0552-4C82-B593-E6124DFADBE2}" type="datetime1">
              <a:rPr lang="en-US" smtClean="0"/>
              <a:t>29-Apr-26</a:t>
            </a:fld>
            <a:endParaRPr lang="en-US" dirty="0"/>
          </a:p>
        </p:txBody>
      </p:sp>
      <p:sp>
        <p:nvSpPr>
          <p:cNvPr id="9" name="Footer Placeholder 8">
            <a:extLst>
              <a:ext uri="{FF2B5EF4-FFF2-40B4-BE49-F238E27FC236}">
                <a16:creationId xmlns:a16="http://schemas.microsoft.com/office/drawing/2014/main" id="{4690D34E-7EBD-44B2-83CA-4C126A18D7EF}"/>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2AC511A1-9BBD-42DE-92FB-2AF44F8E97A9}"/>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2566630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958274"/>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15944"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15944" y="2958273"/>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8AF8A515-AA94-45D1-9223-5C2272618D85}"/>
              </a:ext>
            </a:extLst>
          </p:cNvPr>
          <p:cNvSpPr>
            <a:spLocks noGrp="1"/>
          </p:cNvSpPr>
          <p:nvPr>
            <p:ph type="dt" sz="half" idx="10"/>
          </p:nvPr>
        </p:nvSpPr>
        <p:spPr/>
        <p:txBody>
          <a:bodyPr/>
          <a:lstStyle/>
          <a:p>
            <a:fld id="{D9DF0F1C-5577-4ACB-BB62-DF8F3C494C7E}" type="datetime1">
              <a:rPr lang="en-US" smtClean="0"/>
              <a:t>29-Apr-26</a:t>
            </a:fld>
            <a:endParaRPr lang="en-US" dirty="0"/>
          </a:p>
        </p:txBody>
      </p:sp>
      <p:sp>
        <p:nvSpPr>
          <p:cNvPr id="11" name="Footer Placeholder 10">
            <a:extLst>
              <a:ext uri="{FF2B5EF4-FFF2-40B4-BE49-F238E27FC236}">
                <a16:creationId xmlns:a16="http://schemas.microsoft.com/office/drawing/2014/main" id="{D052F5BC-98E0-4D60-AD67-9547738B7DD4}"/>
              </a:ext>
            </a:extLst>
          </p:cNvPr>
          <p:cNvSpPr>
            <a:spLocks noGrp="1"/>
          </p:cNvSpPr>
          <p:nvPr>
            <p:ph type="ftr" sz="quarter" idx="11"/>
          </p:nvPr>
        </p:nvSpPr>
        <p:spPr/>
        <p:txBody>
          <a:bodyPr/>
          <a:lstStyle/>
          <a:p>
            <a:endParaRPr lang="en-US" dirty="0"/>
          </a:p>
        </p:txBody>
      </p:sp>
      <p:sp>
        <p:nvSpPr>
          <p:cNvPr id="12" name="Slide Number Placeholder 11">
            <a:extLst>
              <a:ext uri="{FF2B5EF4-FFF2-40B4-BE49-F238E27FC236}">
                <a16:creationId xmlns:a16="http://schemas.microsoft.com/office/drawing/2014/main" id="{A38552DC-952E-41EA-AAAF-C2187523C0B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0681946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Date Placeholder 5">
            <a:extLst>
              <a:ext uri="{FF2B5EF4-FFF2-40B4-BE49-F238E27FC236}">
                <a16:creationId xmlns:a16="http://schemas.microsoft.com/office/drawing/2014/main" id="{7392073F-158F-44A3-8913-917AFFC1BC20}"/>
              </a:ext>
            </a:extLst>
          </p:cNvPr>
          <p:cNvSpPr>
            <a:spLocks noGrp="1"/>
          </p:cNvSpPr>
          <p:nvPr>
            <p:ph type="dt" sz="half" idx="10"/>
          </p:nvPr>
        </p:nvSpPr>
        <p:spPr/>
        <p:txBody>
          <a:bodyPr/>
          <a:lstStyle/>
          <a:p>
            <a:fld id="{1775B394-D9F9-4F0C-B15D-605F45CB9E9F}" type="datetime1">
              <a:rPr lang="en-US" smtClean="0"/>
              <a:t>29-Apr-26</a:t>
            </a:fld>
            <a:endParaRPr lang="en-US" dirty="0"/>
          </a:p>
        </p:txBody>
      </p:sp>
      <p:sp>
        <p:nvSpPr>
          <p:cNvPr id="7" name="Footer Placeholder 6">
            <a:extLst>
              <a:ext uri="{FF2B5EF4-FFF2-40B4-BE49-F238E27FC236}">
                <a16:creationId xmlns:a16="http://schemas.microsoft.com/office/drawing/2014/main" id="{EED72207-24CA-42B7-A975-2F8E41CBA904}"/>
              </a:ext>
            </a:extLst>
          </p:cNvPr>
          <p:cNvSpPr>
            <a:spLocks noGrp="1"/>
          </p:cNvSpPr>
          <p:nvPr>
            <p:ph type="ftr" sz="quarter" idx="11"/>
          </p:nvPr>
        </p:nvSpPr>
        <p:spPr/>
        <p:txBody>
          <a:bodyPr/>
          <a:lstStyle/>
          <a:p>
            <a:endParaRPr lang="en-US" dirty="0"/>
          </a:p>
        </p:txBody>
      </p:sp>
      <p:sp>
        <p:nvSpPr>
          <p:cNvPr id="8" name="Slide Number Placeholder 7">
            <a:extLst>
              <a:ext uri="{FF2B5EF4-FFF2-40B4-BE49-F238E27FC236}">
                <a16:creationId xmlns:a16="http://schemas.microsoft.com/office/drawing/2014/main" id="{D01080F2-251A-4B88-9A62-16F46D724F83}"/>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118605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8E9C91B-7EAD-4562-AB0E-DFB9663AECE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a:extLst>
              <a:ext uri="{FF2B5EF4-FFF2-40B4-BE49-F238E27FC236}">
                <a16:creationId xmlns:a16="http://schemas.microsoft.com/office/drawing/2014/main" id="{94E9223F-721F-47BF-9FD5-0F8D12FF0DE1}"/>
              </a:ext>
            </a:extLst>
          </p:cNvPr>
          <p:cNvSpPr>
            <a:spLocks noGrp="1"/>
          </p:cNvSpPr>
          <p:nvPr>
            <p:ph type="dt" sz="half" idx="10"/>
          </p:nvPr>
        </p:nvSpPr>
        <p:spPr/>
        <p:txBody>
          <a:bodyPr/>
          <a:lstStyle/>
          <a:p>
            <a:fld id="{39667345-2558-425A-8533-9BFDBCE15005}" type="datetime1">
              <a:rPr lang="en-US" smtClean="0"/>
              <a:t>29-Apr-26</a:t>
            </a:fld>
            <a:endParaRPr lang="en-US" dirty="0"/>
          </a:p>
        </p:txBody>
      </p:sp>
      <p:sp>
        <p:nvSpPr>
          <p:cNvPr id="3" name="Footer Placeholder 2">
            <a:extLst>
              <a:ext uri="{FF2B5EF4-FFF2-40B4-BE49-F238E27FC236}">
                <a16:creationId xmlns:a16="http://schemas.microsoft.com/office/drawing/2014/main" id="{05915714-6BBA-4593-8591-4E26F7D58D9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BE06F857-D2E1-44DD-ABDD-EBB739645B67}"/>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0014226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6D90D66-BCB9-4229-A829-628874352AC0}"/>
              </a:ext>
            </a:extLst>
          </p:cNvPr>
          <p:cNvSpPr/>
          <p:nvPr/>
        </p:nvSpPr>
        <p:spPr>
          <a:xfrm>
            <a:off x="16" y="0"/>
            <a:ext cx="4654296"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3466" y="786383"/>
            <a:ext cx="3517567" cy="2093975"/>
          </a:xfrm>
        </p:spPr>
        <p:txBody>
          <a:bodyPr anchor="b">
            <a:normAutofit/>
          </a:bodyPr>
          <a:lstStyle>
            <a:lvl1pPr>
              <a:lnSpc>
                <a:spcPct val="90000"/>
              </a:lnSpc>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5458984" y="812799"/>
            <a:ext cx="5928344" cy="52947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43465" y="3043050"/>
            <a:ext cx="3517567" cy="3064505"/>
          </a:xfrm>
        </p:spPr>
        <p:txBody>
          <a:bodyPr lIns="91440" rIns="91440">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43464" y="6446520"/>
            <a:ext cx="3517568" cy="365125"/>
          </a:xfrm>
        </p:spPr>
        <p:txBody>
          <a:bodyPr/>
          <a:lstStyle>
            <a:lvl1pPr algn="l">
              <a:defRPr/>
            </a:lvl1pPr>
          </a:lstStyle>
          <a:p>
            <a:fld id="{92BEA474-078D-4E9B-9B14-09A87B19DC46}" type="datetime1">
              <a:rPr lang="en-US" smtClean="0"/>
              <a:t>29-Apr-26</a:t>
            </a:fld>
            <a:endParaRPr lang="en-US" dirty="0"/>
          </a:p>
        </p:txBody>
      </p:sp>
      <p:sp>
        <p:nvSpPr>
          <p:cNvPr id="6" name="Footer Placeholder 5"/>
          <p:cNvSpPr>
            <a:spLocks noGrp="1"/>
          </p:cNvSpPr>
          <p:nvPr>
            <p:ph type="ftr" sz="quarter" idx="11"/>
          </p:nvPr>
        </p:nvSpPr>
        <p:spPr>
          <a:xfrm>
            <a:off x="5458983" y="6446520"/>
            <a:ext cx="5334019"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9332822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A134939-39C0-4522-A125-A13DFDA66490}"/>
              </a:ext>
            </a:extLst>
          </p:cNvPr>
          <p:cNvSpPr/>
          <p:nvPr/>
        </p:nvSpPr>
        <p:spPr>
          <a:xfrm>
            <a:off x="0" y="4578350"/>
            <a:ext cx="12188825" cy="227965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15" y="0"/>
            <a:ext cx="12191985" cy="4578350"/>
          </a:xfrm>
          <a:solidFill>
            <a:schemeClr val="bg1">
              <a:lumMod val="85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 name="Title 1"/>
          <p:cNvSpPr>
            <a:spLocks noGrp="1"/>
          </p:cNvSpPr>
          <p:nvPr>
            <p:ph type="title"/>
          </p:nvPr>
        </p:nvSpPr>
        <p:spPr>
          <a:xfrm>
            <a:off x="1097279" y="4799362"/>
            <a:ext cx="10113645" cy="743682"/>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1097279" y="5715000"/>
            <a:ext cx="10113264" cy="609600"/>
          </a:xfrm>
        </p:spPr>
        <p:txBody>
          <a:bodyPr lIns="91440" tIns="0" rIns="91440" bIns="0">
            <a:normAutofit/>
          </a:bodyPr>
          <a:lstStyle>
            <a:lvl1pPr marL="0" indent="0">
              <a:spcBef>
                <a:spcPts val="0"/>
              </a:spcBef>
              <a:spcAft>
                <a:spcPts val="600"/>
              </a:spcAft>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fld id="{4907D986-8816-4272-A432-0437A28A9828}" type="datetime1">
              <a:rPr lang="en-US" smtClean="0"/>
              <a:t>29-Apr-26</a:t>
            </a:fld>
            <a:endParaRPr lang="en-US" dirty="0"/>
          </a:p>
        </p:txBody>
      </p:sp>
      <p:sp>
        <p:nvSpPr>
          <p:cNvPr id="6" name="Footer Placeholder 5"/>
          <p:cNvSpPr>
            <a:spLocks noGrp="1"/>
          </p:cNvSpPr>
          <p:nvPr>
            <p:ph type="ftr" sz="quarter" idx="11"/>
          </p:nvPr>
        </p:nvSpPr>
        <p:spPr>
          <a:xfrm>
            <a:off x="1097279" y="6446838"/>
            <a:ext cx="6818262" cy="365125"/>
          </a:xfrm>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5232677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7D5506EE-1026-4F35-9ACC-BD05BE0F9B36}"/>
              </a:ext>
            </a:extLst>
          </p:cNvPr>
          <p:cNvSpPr>
            <a:spLocks noGrp="1"/>
          </p:cNvSpPr>
          <p:nvPr>
            <p:ph type="dt" sz="half" idx="10"/>
          </p:nvPr>
        </p:nvSpPr>
        <p:spPr/>
        <p:txBody>
          <a:bodyPr/>
          <a:lstStyle/>
          <a:p>
            <a:fld id="{B612A279-0833-481D-8C56-F67FD0AC6C50}" type="datetime1">
              <a:rPr lang="en-US" smtClean="0"/>
              <a:t>29-Apr-26</a:t>
            </a:fld>
            <a:endParaRPr lang="en-US" dirty="0"/>
          </a:p>
        </p:txBody>
      </p:sp>
      <p:sp>
        <p:nvSpPr>
          <p:cNvPr id="8" name="Footer Placeholder 7">
            <a:extLst>
              <a:ext uri="{FF2B5EF4-FFF2-40B4-BE49-F238E27FC236}">
                <a16:creationId xmlns:a16="http://schemas.microsoft.com/office/drawing/2014/main" id="{B7696E5F-8D95-4450-AE52-5438E6EDE2BF}"/>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999B2253-74CC-409E-BEB0-F8EFCFCB5629}"/>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6722698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1B68A5B-D9FA-424B-A4EB-30E7223836B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AF33D6B0-F070-45C4-A472-19F432BE3932}"/>
              </a:ext>
            </a:extLst>
          </p:cNvPr>
          <p:cNvSpPr>
            <a:spLocks noGrp="1"/>
          </p:cNvSpPr>
          <p:nvPr>
            <p:ph type="dt" sz="half" idx="10"/>
          </p:nvPr>
        </p:nvSpPr>
        <p:spPr/>
        <p:txBody>
          <a:bodyPr/>
          <a:lstStyle/>
          <a:p>
            <a:fld id="{6587DA83-5663-4C9C-B9AA-0B40A3DAFF81}" type="datetime1">
              <a:rPr lang="en-US" smtClean="0"/>
              <a:t>29-Apr-26</a:t>
            </a:fld>
            <a:endParaRPr lang="en-US" dirty="0"/>
          </a:p>
        </p:txBody>
      </p:sp>
      <p:sp>
        <p:nvSpPr>
          <p:cNvPr id="8" name="Footer Placeholder 7">
            <a:extLst>
              <a:ext uri="{FF2B5EF4-FFF2-40B4-BE49-F238E27FC236}">
                <a16:creationId xmlns:a16="http://schemas.microsoft.com/office/drawing/2014/main" id="{9975399F-DAB2-410D-967F-ED17E6F796E7}"/>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F762A46F-6BE5-4D12-9412-5CA7672EA8EC}"/>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7618272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16A0E3C-60E6-4F39-BC55-5F7C224E1F7C}"/>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2108201"/>
            <a:ext cx="10058400" cy="3760891"/>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18426" y="6446838"/>
            <a:ext cx="2584850" cy="365125"/>
          </a:xfrm>
          <a:prstGeom prst="rect">
            <a:avLst/>
          </a:prstGeom>
        </p:spPr>
        <p:txBody>
          <a:bodyPr vert="horz" lIns="91440" tIns="45720" rIns="91440" bIns="45720" rtlCol="0" anchor="ctr"/>
          <a:lstStyle>
            <a:lvl1pPr algn="r">
              <a:defRPr sz="800">
                <a:solidFill>
                  <a:srgbClr val="FFFFFF"/>
                </a:solidFill>
              </a:defRPr>
            </a:lvl1pPr>
          </a:lstStyle>
          <a:p>
            <a:fld id="{62D6E202-B606-4609-B914-27C9371A1F6D}" type="datetime1">
              <a:rPr lang="en-US" smtClean="0"/>
              <a:t>29-Apr-26</a:t>
            </a:fld>
            <a:endParaRPr lang="en-US" dirty="0"/>
          </a:p>
        </p:txBody>
      </p:sp>
      <p:sp>
        <p:nvSpPr>
          <p:cNvPr id="5" name="Footer Placeholder 4"/>
          <p:cNvSpPr>
            <a:spLocks noGrp="1"/>
          </p:cNvSpPr>
          <p:nvPr>
            <p:ph type="ftr" sz="quarter" idx="3"/>
          </p:nvPr>
        </p:nvSpPr>
        <p:spPr>
          <a:xfrm>
            <a:off x="1097279" y="6446838"/>
            <a:ext cx="6818262" cy="365125"/>
          </a:xfrm>
          <a:prstGeom prst="rect">
            <a:avLst/>
          </a:prstGeom>
        </p:spPr>
        <p:txBody>
          <a:bodyPr vert="horz" lIns="91440" tIns="45720" rIns="91440" bIns="45720" rtlCol="0" anchor="ctr"/>
          <a:lstStyle>
            <a:lvl1pPr algn="l">
              <a:defRPr sz="8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10993582" y="6446838"/>
            <a:ext cx="780010" cy="365125"/>
          </a:xfrm>
          <a:prstGeom prst="rect">
            <a:avLst/>
          </a:prstGeom>
        </p:spPr>
        <p:txBody>
          <a:bodyPr vert="horz" lIns="91440" tIns="45720" rIns="91440" bIns="45720" rtlCol="0" anchor="ctr"/>
          <a:lstStyle>
            <a:lvl1pPr algn="l">
              <a:defRPr sz="800">
                <a:solidFill>
                  <a:srgbClr val="FFFFFF"/>
                </a:solidFill>
              </a:defRPr>
            </a:lvl1pPr>
          </a:lstStyle>
          <a:p>
            <a:fld id="{3A98EE3D-8CD1-4C3F-BD1C-C98C9596463C}" type="slidenum">
              <a:rPr lang="en-US" smtClean="0"/>
              <a:t>‹#›</a:t>
            </a:fld>
            <a:endParaRPr lang="en-US" dirty="0"/>
          </a:p>
        </p:txBody>
      </p:sp>
      <p:cxnSp>
        <p:nvCxnSpPr>
          <p:cNvPr id="10" name="Straight Connector 9">
            <a:extLst>
              <a:ext uri="{FF2B5EF4-FFF2-40B4-BE49-F238E27FC236}">
                <a16:creationId xmlns:a16="http://schemas.microsoft.com/office/drawing/2014/main" id="{C5025DAC-8B93-4160-B017-3A274A5828C0}"/>
              </a:ext>
            </a:extLst>
          </p:cNvPr>
          <p:cNvCxnSpPr/>
          <p:nvPr/>
        </p:nvCxnSpPr>
        <p:spPr>
          <a:xfrm>
            <a:off x="1193532" y="1897380"/>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34982234"/>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47" r:id="rId3"/>
    <p:sldLayoutId id="2147483743" r:id="rId4"/>
    <p:sldLayoutId id="2147483738" r:id="rId5"/>
    <p:sldLayoutId id="2147483732" r:id="rId6"/>
    <p:sldLayoutId id="2147483733" r:id="rId7"/>
    <p:sldLayoutId id="2147483734" r:id="rId8"/>
    <p:sldLayoutId id="2147483735" r:id="rId9"/>
    <p:sldLayoutId id="2147483736" r:id="rId10"/>
    <p:sldLayoutId id="2147483737" r:id="rId11"/>
  </p:sldLayoutIdLst>
  <p:hf sldNum="0" hdr="0" ftr="0" dt="0"/>
  <p:txStyles>
    <p:titleStyle>
      <a:lvl1pPr algn="l" defTabSz="914400" rtl="0" eaLnBrk="1" latinLnBrk="0" hangingPunct="1">
        <a:lnSpc>
          <a:spcPct val="90000"/>
        </a:lnSpc>
        <a:spcBef>
          <a:spcPct val="0"/>
        </a:spcBef>
        <a:buNone/>
        <a:defRPr sz="4700" i="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A9286AD2-18A9-4868-A4E3-7A2097A208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1" cy="68579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8FD68DA-43BA-4508-8DE2-BA9BB7B2FA5B}"/>
              </a:ext>
            </a:extLst>
          </p:cNvPr>
          <p:cNvSpPr>
            <a:spLocks noGrp="1"/>
          </p:cNvSpPr>
          <p:nvPr>
            <p:ph type="ctrTitle"/>
          </p:nvPr>
        </p:nvSpPr>
        <p:spPr>
          <a:xfrm>
            <a:off x="5289754" y="639097"/>
            <a:ext cx="6253317" cy="3686015"/>
          </a:xfrm>
        </p:spPr>
        <p:txBody>
          <a:bodyPr>
            <a:normAutofit/>
          </a:bodyPr>
          <a:lstStyle/>
          <a:p>
            <a:r>
              <a:rPr lang="en-US" sz="8000" dirty="0"/>
              <a:t>The peacock</a:t>
            </a:r>
          </a:p>
        </p:txBody>
      </p:sp>
      <p:sp>
        <p:nvSpPr>
          <p:cNvPr id="3" name="Subtitle 2">
            <a:extLst>
              <a:ext uri="{FF2B5EF4-FFF2-40B4-BE49-F238E27FC236}">
                <a16:creationId xmlns:a16="http://schemas.microsoft.com/office/drawing/2014/main" id="{A8E9CFF2-3777-4FF4-A759-8491175B0B7C}"/>
              </a:ext>
            </a:extLst>
          </p:cNvPr>
          <p:cNvSpPr>
            <a:spLocks noGrp="1"/>
          </p:cNvSpPr>
          <p:nvPr>
            <p:ph type="subTitle" idx="1"/>
          </p:nvPr>
        </p:nvSpPr>
        <p:spPr>
          <a:xfrm>
            <a:off x="5289753" y="4672739"/>
            <a:ext cx="6269347" cy="1021498"/>
          </a:xfrm>
        </p:spPr>
        <p:txBody>
          <a:bodyPr>
            <a:normAutofit/>
          </a:bodyPr>
          <a:lstStyle/>
          <a:p>
            <a:r>
              <a:rPr lang="en-US" sz="2400" dirty="0">
                <a:solidFill>
                  <a:schemeClr val="tx1">
                    <a:lumMod val="85000"/>
                    <a:lumOff val="15000"/>
                  </a:schemeClr>
                </a:solidFill>
              </a:rPr>
              <a:t>Author: Jeyaseelan</a:t>
            </a:r>
          </a:p>
        </p:txBody>
      </p:sp>
      <p:pic>
        <p:nvPicPr>
          <p:cNvPr id="5" name="Picture 4" descr="A picture containing building, sitting, bench, side&#10;&#10;Description automatically generated">
            <a:extLst>
              <a:ext uri="{FF2B5EF4-FFF2-40B4-BE49-F238E27FC236}">
                <a16:creationId xmlns:a16="http://schemas.microsoft.com/office/drawing/2014/main" id="{282CF6DD-7FE8-4063-9551-1B7BBCE92ABE}"/>
              </a:ext>
            </a:extLst>
          </p:cNvPr>
          <p:cNvPicPr>
            <a:picLocks noChangeAspect="1"/>
          </p:cNvPicPr>
          <p:nvPr/>
        </p:nvPicPr>
        <p:blipFill rotWithShape="1">
          <a:blip r:embed="rId2">
            <a:extLst>
              <a:ext uri="{28A0092B-C50C-407E-A947-70E740481C1C}">
                <a14:useLocalDpi xmlns:a14="http://schemas.microsoft.com/office/drawing/2010/main" val="0"/>
              </a:ext>
            </a:extLst>
          </a:blip>
          <a:srcRect/>
          <a:stretch/>
        </p:blipFill>
        <p:spPr>
          <a:xfrm>
            <a:off x="-1" y="1"/>
            <a:ext cx="4635315" cy="6857999"/>
          </a:xfrm>
          <a:prstGeom prst="rect">
            <a:avLst/>
          </a:prstGeom>
        </p:spPr>
      </p:pic>
      <p:cxnSp>
        <p:nvCxnSpPr>
          <p:cNvPr id="24" name="Straight Connector 23">
            <a:extLst>
              <a:ext uri="{FF2B5EF4-FFF2-40B4-BE49-F238E27FC236}">
                <a16:creationId xmlns:a16="http://schemas.microsoft.com/office/drawing/2014/main" id="{E7A7CD63-7EC3-44F3-95D0-595C4019FF2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427754" y="4498925"/>
            <a:ext cx="5636107"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437378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7" name="Rectangle 46">
            <a:extLst>
              <a:ext uri="{FF2B5EF4-FFF2-40B4-BE49-F238E27FC236}">
                <a16:creationId xmlns:a16="http://schemas.microsoft.com/office/drawing/2014/main" id="{FBDCECDC-EEE3-4128-AA5E-82A8C08796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07"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AB2EA78-AEB3-469B-9025-3B17201A457B}"/>
              </a:ext>
            </a:extLst>
          </p:cNvPr>
          <p:cNvSpPr>
            <a:spLocks noGrp="1"/>
          </p:cNvSpPr>
          <p:nvPr>
            <p:ph type="ctrTitle"/>
          </p:nvPr>
        </p:nvSpPr>
        <p:spPr>
          <a:xfrm>
            <a:off x="1097280" y="758952"/>
            <a:ext cx="10058400" cy="3892168"/>
          </a:xfrm>
        </p:spPr>
        <p:txBody>
          <a:bodyPr anchor="ctr">
            <a:normAutofit/>
          </a:bodyPr>
          <a:lstStyle/>
          <a:p>
            <a:r>
              <a:rPr lang="en-US" sz="2800" b="1" dirty="0"/>
              <a:t>General Information</a:t>
            </a:r>
            <a:br>
              <a:rPr lang="en-US" sz="2800" b="1" dirty="0"/>
            </a:br>
            <a:r>
              <a:rPr lang="en-US" sz="2800" b="1" dirty="0"/>
              <a:t>Scientific name: </a:t>
            </a:r>
            <a:r>
              <a:rPr lang="en-US" sz="2800" b="1" i="1" dirty="0" err="1"/>
              <a:t>Pavo</a:t>
            </a:r>
            <a:r>
              <a:rPr lang="en-US" sz="2800" b="1" i="1" dirty="0"/>
              <a:t> </a:t>
            </a:r>
            <a:r>
              <a:rPr lang="en-US" sz="2800" b="1" i="1" dirty="0" err="1"/>
              <a:t>cristatus</a:t>
            </a:r>
            <a:br>
              <a:rPr lang="en-US" sz="2800" b="1" dirty="0"/>
            </a:br>
            <a:r>
              <a:rPr lang="en-US" sz="2800" b="1" dirty="0"/>
              <a:t>Family: Phasianidae (same family as pheasants)</a:t>
            </a:r>
            <a:br>
              <a:rPr lang="en-US" sz="2800" b="1" dirty="0"/>
            </a:br>
            <a:r>
              <a:rPr lang="en-US" sz="2800" b="1" dirty="0"/>
              <a:t>Native range: Indian subcontinent — found across India, Sri Lanka, and parts of Myanmar.</a:t>
            </a:r>
            <a:br>
              <a:rPr lang="en-US" sz="2800" b="1" dirty="0"/>
            </a:br>
            <a:r>
              <a:rPr lang="en-US" sz="2800" b="1" dirty="0"/>
              <a:t>National bird of India: Symbolizes grace, pride, and beauty.</a:t>
            </a:r>
          </a:p>
        </p:txBody>
      </p:sp>
      <p:sp>
        <p:nvSpPr>
          <p:cNvPr id="49" name="Rectangle 48">
            <a:extLst>
              <a:ext uri="{FF2B5EF4-FFF2-40B4-BE49-F238E27FC236}">
                <a16:creationId xmlns:a16="http://schemas.microsoft.com/office/drawing/2014/main" id="{4260EDE0-989C-4E16-AF94-F652294D82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07" y="4953000"/>
            <a:ext cx="12188952" cy="1905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Subtitle 2">
            <a:extLst>
              <a:ext uri="{FF2B5EF4-FFF2-40B4-BE49-F238E27FC236}">
                <a16:creationId xmlns:a16="http://schemas.microsoft.com/office/drawing/2014/main" id="{255E1F2F-E259-4EA8-9FFD-3A10AF541859}"/>
              </a:ext>
            </a:extLst>
          </p:cNvPr>
          <p:cNvSpPr>
            <a:spLocks noGrp="1"/>
          </p:cNvSpPr>
          <p:nvPr>
            <p:ph type="subTitle" idx="1"/>
          </p:nvPr>
        </p:nvSpPr>
        <p:spPr>
          <a:xfrm>
            <a:off x="1100051" y="5225240"/>
            <a:ext cx="10058400" cy="1143000"/>
          </a:xfrm>
        </p:spPr>
        <p:txBody>
          <a:bodyPr>
            <a:normAutofit/>
          </a:bodyPr>
          <a:lstStyle/>
          <a:p>
            <a:r>
              <a:rPr lang="en-US">
                <a:solidFill>
                  <a:srgbClr val="FFFFFF"/>
                </a:solidFill>
              </a:rPr>
              <a:t>- Neil Armstrong</a:t>
            </a:r>
          </a:p>
        </p:txBody>
      </p:sp>
    </p:spTree>
    <p:extLst>
      <p:ext uri="{BB962C8B-B14F-4D97-AF65-F5344CB8AC3E}">
        <p14:creationId xmlns:p14="http://schemas.microsoft.com/office/powerpoint/2010/main" val="1917146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7" name="Rectangle 46">
            <a:extLst>
              <a:ext uri="{FF2B5EF4-FFF2-40B4-BE49-F238E27FC236}">
                <a16:creationId xmlns:a16="http://schemas.microsoft.com/office/drawing/2014/main" id="{FBDCECDC-EEE3-4128-AA5E-82A8C08796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07"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AB2EA78-AEB3-469B-9025-3B17201A457B}"/>
              </a:ext>
            </a:extLst>
          </p:cNvPr>
          <p:cNvSpPr>
            <a:spLocks noGrp="1"/>
          </p:cNvSpPr>
          <p:nvPr>
            <p:ph type="ctrTitle"/>
          </p:nvPr>
        </p:nvSpPr>
        <p:spPr>
          <a:xfrm>
            <a:off x="1097280" y="758952"/>
            <a:ext cx="10058400" cy="3892168"/>
          </a:xfrm>
        </p:spPr>
        <p:txBody>
          <a:bodyPr anchor="ctr">
            <a:normAutofit/>
          </a:bodyPr>
          <a:lstStyle/>
          <a:p>
            <a:r>
              <a:rPr lang="en-US" sz="2400" b="1" dirty="0"/>
              <a:t>Natural Habitat</a:t>
            </a:r>
            <a:br>
              <a:rPr lang="en-US" sz="2400" dirty="0"/>
            </a:br>
            <a:r>
              <a:rPr lang="en-US" sz="2400" dirty="0"/>
              <a:t>Prefers </a:t>
            </a:r>
            <a:r>
              <a:rPr lang="en-US" sz="2400" b="1" dirty="0"/>
              <a:t>open forests</a:t>
            </a:r>
            <a:r>
              <a:rPr lang="en-US" sz="2400" dirty="0"/>
              <a:t>, </a:t>
            </a:r>
            <a:r>
              <a:rPr lang="en-US" sz="2400" b="1" dirty="0"/>
              <a:t>farmlands</a:t>
            </a:r>
            <a:r>
              <a:rPr lang="en-US" sz="2400" dirty="0"/>
              <a:t>, and </a:t>
            </a:r>
            <a:r>
              <a:rPr lang="en-US" sz="2400" b="1" dirty="0"/>
              <a:t>grasslands</a:t>
            </a:r>
            <a:r>
              <a:rPr lang="en-US" sz="2400" dirty="0"/>
              <a:t> near water sources.</a:t>
            </a:r>
            <a:br>
              <a:rPr lang="en-US" sz="2400" dirty="0"/>
            </a:br>
            <a:r>
              <a:rPr lang="en-US" sz="2400" dirty="0"/>
              <a:t>Commonly seen in </a:t>
            </a:r>
            <a:r>
              <a:rPr lang="en-US" sz="2400" b="1" dirty="0"/>
              <a:t>semi‑dry regions</a:t>
            </a:r>
            <a:r>
              <a:rPr lang="en-US" sz="2400" dirty="0"/>
              <a:t> and </a:t>
            </a:r>
            <a:r>
              <a:rPr lang="en-US" sz="2400" b="1" dirty="0"/>
              <a:t>village outskirts</a:t>
            </a:r>
            <a:r>
              <a:rPr lang="en-US" sz="2400" dirty="0"/>
              <a:t> where food and shelter are abundant.</a:t>
            </a:r>
            <a:br>
              <a:rPr lang="en-US" sz="2400" dirty="0"/>
            </a:br>
            <a:r>
              <a:rPr lang="en-US" sz="2400" dirty="0"/>
              <a:t>Roosts on tall trees at night to stay safe from predators.</a:t>
            </a:r>
          </a:p>
        </p:txBody>
      </p:sp>
      <p:sp>
        <p:nvSpPr>
          <p:cNvPr id="49" name="Rectangle 48">
            <a:extLst>
              <a:ext uri="{FF2B5EF4-FFF2-40B4-BE49-F238E27FC236}">
                <a16:creationId xmlns:a16="http://schemas.microsoft.com/office/drawing/2014/main" id="{4260EDE0-989C-4E16-AF94-F652294D82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07" y="4953000"/>
            <a:ext cx="12188952" cy="1905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Subtitle 2">
            <a:extLst>
              <a:ext uri="{FF2B5EF4-FFF2-40B4-BE49-F238E27FC236}">
                <a16:creationId xmlns:a16="http://schemas.microsoft.com/office/drawing/2014/main" id="{255E1F2F-E259-4EA8-9FFD-3A10AF541859}"/>
              </a:ext>
            </a:extLst>
          </p:cNvPr>
          <p:cNvSpPr>
            <a:spLocks noGrp="1"/>
          </p:cNvSpPr>
          <p:nvPr>
            <p:ph type="subTitle" idx="1"/>
          </p:nvPr>
        </p:nvSpPr>
        <p:spPr>
          <a:xfrm>
            <a:off x="1100051" y="5225240"/>
            <a:ext cx="10058400" cy="1143000"/>
          </a:xfrm>
        </p:spPr>
        <p:txBody>
          <a:bodyPr>
            <a:normAutofit/>
          </a:bodyPr>
          <a:lstStyle/>
          <a:p>
            <a:r>
              <a:rPr lang="en-US">
                <a:solidFill>
                  <a:srgbClr val="FFFFFF"/>
                </a:solidFill>
              </a:rPr>
              <a:t>- Neil Armstrong</a:t>
            </a:r>
          </a:p>
        </p:txBody>
      </p:sp>
    </p:spTree>
    <p:extLst>
      <p:ext uri="{BB962C8B-B14F-4D97-AF65-F5344CB8AC3E}">
        <p14:creationId xmlns:p14="http://schemas.microsoft.com/office/powerpoint/2010/main" val="38678397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7" name="Rectangle 46">
            <a:extLst>
              <a:ext uri="{FF2B5EF4-FFF2-40B4-BE49-F238E27FC236}">
                <a16:creationId xmlns:a16="http://schemas.microsoft.com/office/drawing/2014/main" id="{FBDCECDC-EEE3-4128-AA5E-82A8C08796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07"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AB2EA78-AEB3-469B-9025-3B17201A457B}"/>
              </a:ext>
            </a:extLst>
          </p:cNvPr>
          <p:cNvSpPr>
            <a:spLocks noGrp="1"/>
          </p:cNvSpPr>
          <p:nvPr>
            <p:ph type="ctrTitle"/>
          </p:nvPr>
        </p:nvSpPr>
        <p:spPr>
          <a:xfrm>
            <a:off x="1097280" y="758952"/>
            <a:ext cx="10058400" cy="3892168"/>
          </a:xfrm>
        </p:spPr>
        <p:txBody>
          <a:bodyPr anchor="ctr">
            <a:normAutofit/>
          </a:bodyPr>
          <a:lstStyle/>
          <a:p>
            <a:r>
              <a:rPr lang="en-US" sz="2800" b="1" dirty="0"/>
              <a:t>Food Habits</a:t>
            </a:r>
            <a:br>
              <a:rPr lang="en-US" sz="2800" b="1" dirty="0"/>
            </a:br>
            <a:r>
              <a:rPr lang="en-US" sz="2800" b="1" dirty="0"/>
              <a:t>Peacocks are omnivorous:</a:t>
            </a:r>
            <a:br>
              <a:rPr lang="en-US" sz="2800" b="1" dirty="0"/>
            </a:br>
            <a:r>
              <a:rPr lang="en-US" sz="2800" b="1" dirty="0"/>
              <a:t>• 	Plant-based: Seeds, grains, fruits, berries, and tender shoots.</a:t>
            </a:r>
            <a:br>
              <a:rPr lang="en-US" sz="2800" b="1" dirty="0"/>
            </a:br>
            <a:r>
              <a:rPr lang="en-US" sz="2800" b="1" dirty="0"/>
              <a:t>• 	Animal-based: Insects, small reptiles, frogs, and even snakes.</a:t>
            </a:r>
            <a:br>
              <a:rPr lang="en-US" sz="2800" b="1" dirty="0"/>
            </a:br>
            <a:r>
              <a:rPr lang="en-US" sz="2800" b="1" dirty="0"/>
              <a:t>• 	They help control pests in agricultural areas — a natural benefit to farmers.</a:t>
            </a:r>
          </a:p>
        </p:txBody>
      </p:sp>
      <p:sp>
        <p:nvSpPr>
          <p:cNvPr id="49" name="Rectangle 48">
            <a:extLst>
              <a:ext uri="{FF2B5EF4-FFF2-40B4-BE49-F238E27FC236}">
                <a16:creationId xmlns:a16="http://schemas.microsoft.com/office/drawing/2014/main" id="{4260EDE0-989C-4E16-AF94-F652294D82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07" y="4953000"/>
            <a:ext cx="12188952" cy="1905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Subtitle 2">
            <a:extLst>
              <a:ext uri="{FF2B5EF4-FFF2-40B4-BE49-F238E27FC236}">
                <a16:creationId xmlns:a16="http://schemas.microsoft.com/office/drawing/2014/main" id="{255E1F2F-E259-4EA8-9FFD-3A10AF541859}"/>
              </a:ext>
            </a:extLst>
          </p:cNvPr>
          <p:cNvSpPr>
            <a:spLocks noGrp="1"/>
          </p:cNvSpPr>
          <p:nvPr>
            <p:ph type="subTitle" idx="1"/>
          </p:nvPr>
        </p:nvSpPr>
        <p:spPr>
          <a:xfrm>
            <a:off x="1100051" y="5225240"/>
            <a:ext cx="10058400" cy="1143000"/>
          </a:xfrm>
        </p:spPr>
        <p:txBody>
          <a:bodyPr>
            <a:normAutofit/>
          </a:bodyPr>
          <a:lstStyle/>
          <a:p>
            <a:r>
              <a:rPr lang="en-US">
                <a:solidFill>
                  <a:srgbClr val="FFFFFF"/>
                </a:solidFill>
              </a:rPr>
              <a:t>- Neil Armstrong</a:t>
            </a:r>
          </a:p>
        </p:txBody>
      </p:sp>
    </p:spTree>
    <p:extLst>
      <p:ext uri="{BB962C8B-B14F-4D97-AF65-F5344CB8AC3E}">
        <p14:creationId xmlns:p14="http://schemas.microsoft.com/office/powerpoint/2010/main" val="3683764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7" name="Rectangle 46">
            <a:extLst>
              <a:ext uri="{FF2B5EF4-FFF2-40B4-BE49-F238E27FC236}">
                <a16:creationId xmlns:a16="http://schemas.microsoft.com/office/drawing/2014/main" id="{FBDCECDC-EEE3-4128-AA5E-82A8C08796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07"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AB2EA78-AEB3-469B-9025-3B17201A457B}"/>
              </a:ext>
            </a:extLst>
          </p:cNvPr>
          <p:cNvSpPr>
            <a:spLocks noGrp="1"/>
          </p:cNvSpPr>
          <p:nvPr>
            <p:ph type="ctrTitle"/>
          </p:nvPr>
        </p:nvSpPr>
        <p:spPr>
          <a:xfrm>
            <a:off x="1097280" y="758952"/>
            <a:ext cx="10058400" cy="3892168"/>
          </a:xfrm>
        </p:spPr>
        <p:txBody>
          <a:bodyPr anchor="ctr">
            <a:normAutofit/>
          </a:bodyPr>
          <a:lstStyle/>
          <a:p>
            <a:r>
              <a:rPr lang="en-US" sz="2400" b="1" dirty="0"/>
              <a:t>Male peacock: </a:t>
            </a:r>
            <a:r>
              <a:rPr lang="en-US" sz="2400" dirty="0"/>
              <a:t>Brilliant metallic blue and green plumage, long iridescent tail feathers (“train”) with eye‑like patterns.</a:t>
            </a:r>
            <a:endParaRPr lang="en-US" sz="2400" b="1" dirty="0"/>
          </a:p>
        </p:txBody>
      </p:sp>
      <p:sp>
        <p:nvSpPr>
          <p:cNvPr id="49" name="Rectangle 48">
            <a:extLst>
              <a:ext uri="{FF2B5EF4-FFF2-40B4-BE49-F238E27FC236}">
                <a16:creationId xmlns:a16="http://schemas.microsoft.com/office/drawing/2014/main" id="{4260EDE0-989C-4E16-AF94-F652294D82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07" y="4953000"/>
            <a:ext cx="12188952" cy="1905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Subtitle 2">
            <a:extLst>
              <a:ext uri="{FF2B5EF4-FFF2-40B4-BE49-F238E27FC236}">
                <a16:creationId xmlns:a16="http://schemas.microsoft.com/office/drawing/2014/main" id="{255E1F2F-E259-4EA8-9FFD-3A10AF541859}"/>
              </a:ext>
            </a:extLst>
          </p:cNvPr>
          <p:cNvSpPr>
            <a:spLocks noGrp="1"/>
          </p:cNvSpPr>
          <p:nvPr>
            <p:ph type="subTitle" idx="1"/>
          </p:nvPr>
        </p:nvSpPr>
        <p:spPr>
          <a:xfrm>
            <a:off x="1100051" y="5225240"/>
            <a:ext cx="10058400" cy="1143000"/>
          </a:xfrm>
        </p:spPr>
        <p:txBody>
          <a:bodyPr>
            <a:normAutofit/>
          </a:bodyPr>
          <a:lstStyle/>
          <a:p>
            <a:r>
              <a:rPr lang="en-US">
                <a:solidFill>
                  <a:srgbClr val="FFFFFF"/>
                </a:solidFill>
              </a:rPr>
              <a:t>- Neil Armstrong</a:t>
            </a:r>
          </a:p>
        </p:txBody>
      </p:sp>
    </p:spTree>
    <p:extLst>
      <p:ext uri="{BB962C8B-B14F-4D97-AF65-F5344CB8AC3E}">
        <p14:creationId xmlns:p14="http://schemas.microsoft.com/office/powerpoint/2010/main" val="5232063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7" name="Rectangle 46">
            <a:extLst>
              <a:ext uri="{FF2B5EF4-FFF2-40B4-BE49-F238E27FC236}">
                <a16:creationId xmlns:a16="http://schemas.microsoft.com/office/drawing/2014/main" id="{FBDCECDC-EEE3-4128-AA5E-82A8C08796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07"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AB2EA78-AEB3-469B-9025-3B17201A457B}"/>
              </a:ext>
            </a:extLst>
          </p:cNvPr>
          <p:cNvSpPr>
            <a:spLocks noGrp="1"/>
          </p:cNvSpPr>
          <p:nvPr>
            <p:ph type="ctrTitle"/>
          </p:nvPr>
        </p:nvSpPr>
        <p:spPr>
          <a:xfrm>
            <a:off x="1097280" y="758952"/>
            <a:ext cx="10058400" cy="3892168"/>
          </a:xfrm>
        </p:spPr>
        <p:txBody>
          <a:bodyPr anchor="ctr">
            <a:normAutofit/>
          </a:bodyPr>
          <a:lstStyle/>
          <a:p>
            <a:r>
              <a:rPr lang="en-US" sz="2800" b="1" dirty="0"/>
              <a:t>Female(peahen) </a:t>
            </a:r>
            <a:r>
              <a:rPr lang="en-US" sz="2800" dirty="0"/>
              <a:t>Brownish‑grey with green neck feathers; lacks the long train.</a:t>
            </a:r>
            <a:endParaRPr lang="en-US" sz="2800" b="1" dirty="0"/>
          </a:p>
        </p:txBody>
      </p:sp>
      <p:sp>
        <p:nvSpPr>
          <p:cNvPr id="49" name="Rectangle 48">
            <a:extLst>
              <a:ext uri="{FF2B5EF4-FFF2-40B4-BE49-F238E27FC236}">
                <a16:creationId xmlns:a16="http://schemas.microsoft.com/office/drawing/2014/main" id="{4260EDE0-989C-4E16-AF94-F652294D82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07" y="4953000"/>
            <a:ext cx="12188952" cy="1905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Subtitle 2">
            <a:extLst>
              <a:ext uri="{FF2B5EF4-FFF2-40B4-BE49-F238E27FC236}">
                <a16:creationId xmlns:a16="http://schemas.microsoft.com/office/drawing/2014/main" id="{255E1F2F-E259-4EA8-9FFD-3A10AF541859}"/>
              </a:ext>
            </a:extLst>
          </p:cNvPr>
          <p:cNvSpPr>
            <a:spLocks noGrp="1"/>
          </p:cNvSpPr>
          <p:nvPr>
            <p:ph type="subTitle" idx="1"/>
          </p:nvPr>
        </p:nvSpPr>
        <p:spPr>
          <a:xfrm>
            <a:off x="1100051" y="5225240"/>
            <a:ext cx="10058400" cy="1143000"/>
          </a:xfrm>
        </p:spPr>
        <p:txBody>
          <a:bodyPr>
            <a:normAutofit/>
          </a:bodyPr>
          <a:lstStyle/>
          <a:p>
            <a:r>
              <a:rPr lang="en-US">
                <a:solidFill>
                  <a:srgbClr val="FFFFFF"/>
                </a:solidFill>
              </a:rPr>
              <a:t>- Neil Armstrong</a:t>
            </a:r>
          </a:p>
        </p:txBody>
      </p:sp>
    </p:spTree>
    <p:extLst>
      <p:ext uri="{BB962C8B-B14F-4D97-AF65-F5344CB8AC3E}">
        <p14:creationId xmlns:p14="http://schemas.microsoft.com/office/powerpoint/2010/main" val="29331647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7" name="Rectangle 46">
            <a:extLst>
              <a:ext uri="{FF2B5EF4-FFF2-40B4-BE49-F238E27FC236}">
                <a16:creationId xmlns:a16="http://schemas.microsoft.com/office/drawing/2014/main" id="{FBDCECDC-EEE3-4128-AA5E-82A8C08796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07"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AB2EA78-AEB3-469B-9025-3B17201A457B}"/>
              </a:ext>
            </a:extLst>
          </p:cNvPr>
          <p:cNvSpPr>
            <a:spLocks noGrp="1"/>
          </p:cNvSpPr>
          <p:nvPr>
            <p:ph type="ctrTitle"/>
          </p:nvPr>
        </p:nvSpPr>
        <p:spPr>
          <a:xfrm>
            <a:off x="1097280" y="758952"/>
            <a:ext cx="10058400" cy="3892168"/>
          </a:xfrm>
        </p:spPr>
        <p:txBody>
          <a:bodyPr anchor="ctr">
            <a:normAutofit/>
          </a:bodyPr>
          <a:lstStyle/>
          <a:p>
            <a:r>
              <a:rPr lang="en-US" sz="2800" b="1" dirty="0"/>
              <a:t>Behavior and Breeding</a:t>
            </a:r>
            <a:br>
              <a:rPr lang="en-US" sz="2800" dirty="0"/>
            </a:br>
            <a:r>
              <a:rPr lang="en-US" sz="2800" dirty="0" err="1"/>
              <a:t>Breeding</a:t>
            </a:r>
            <a:r>
              <a:rPr lang="en-US" sz="2800" dirty="0"/>
              <a:t> season: </a:t>
            </a:r>
            <a:r>
              <a:rPr lang="en-US" sz="2800" b="1" dirty="0"/>
              <a:t>Monsoon months (June–September)</a:t>
            </a:r>
            <a:r>
              <a:rPr lang="en-US" sz="2800" dirty="0"/>
              <a:t>.</a:t>
            </a:r>
            <a:br>
              <a:rPr lang="en-US" sz="2800" dirty="0"/>
            </a:br>
            <a:r>
              <a:rPr lang="en-US" sz="2800" dirty="0"/>
              <a:t>Males perform elaborate dances and calls to attract females.</a:t>
            </a:r>
            <a:br>
              <a:rPr lang="en-US" sz="2800" dirty="0"/>
            </a:br>
            <a:r>
              <a:rPr lang="en-US" sz="2800" dirty="0"/>
              <a:t>Females lay </a:t>
            </a:r>
            <a:r>
              <a:rPr lang="en-US" sz="2800" b="1" dirty="0"/>
              <a:t>3–6 eggs</a:t>
            </a:r>
            <a:r>
              <a:rPr lang="en-US" sz="2800" dirty="0"/>
              <a:t> in shallow ground nests.</a:t>
            </a:r>
            <a:br>
              <a:rPr lang="en-US" sz="2800" dirty="0"/>
            </a:br>
            <a:r>
              <a:rPr lang="en-US" sz="2800" dirty="0"/>
              <a:t>Chicks can walk and feed themselves within hours of hatching.</a:t>
            </a:r>
          </a:p>
        </p:txBody>
      </p:sp>
      <p:sp>
        <p:nvSpPr>
          <p:cNvPr id="49" name="Rectangle 48">
            <a:extLst>
              <a:ext uri="{FF2B5EF4-FFF2-40B4-BE49-F238E27FC236}">
                <a16:creationId xmlns:a16="http://schemas.microsoft.com/office/drawing/2014/main" id="{4260EDE0-989C-4E16-AF94-F652294D82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07" y="4953000"/>
            <a:ext cx="12188952" cy="1905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Subtitle 2">
            <a:extLst>
              <a:ext uri="{FF2B5EF4-FFF2-40B4-BE49-F238E27FC236}">
                <a16:creationId xmlns:a16="http://schemas.microsoft.com/office/drawing/2014/main" id="{255E1F2F-E259-4EA8-9FFD-3A10AF541859}"/>
              </a:ext>
            </a:extLst>
          </p:cNvPr>
          <p:cNvSpPr>
            <a:spLocks noGrp="1"/>
          </p:cNvSpPr>
          <p:nvPr>
            <p:ph type="subTitle" idx="1"/>
          </p:nvPr>
        </p:nvSpPr>
        <p:spPr>
          <a:xfrm>
            <a:off x="6635379" y="6120276"/>
            <a:ext cx="5029986" cy="317500"/>
          </a:xfrm>
        </p:spPr>
        <p:txBody>
          <a:bodyPr>
            <a:normAutofit fontScale="62500" lnSpcReduction="20000"/>
          </a:bodyPr>
          <a:lstStyle/>
          <a:p>
            <a:r>
              <a:rPr lang="en-US" dirty="0">
                <a:solidFill>
                  <a:srgbClr val="FFFFFF"/>
                </a:solidFill>
              </a:rPr>
              <a:t>Pencil drawn image </a:t>
            </a:r>
          </a:p>
        </p:txBody>
      </p:sp>
      <p:pic>
        <p:nvPicPr>
          <p:cNvPr id="3074" name="Picture 2" descr="0">
            <a:extLst>
              <a:ext uri="{FF2B5EF4-FFF2-40B4-BE49-F238E27FC236}">
                <a16:creationId xmlns:a16="http://schemas.microsoft.com/office/drawing/2014/main" id="{0FF2804D-332D-422C-8007-5E817881498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12549" y="5036727"/>
            <a:ext cx="2442039" cy="1649150"/>
          </a:xfrm>
          <a:prstGeom prst="rect">
            <a:avLst/>
          </a:prstGeom>
          <a:noFill/>
          <a:extLst>
            <a:ext uri="{909E8E84-426E-40DD-AFC4-6F175D3DCCD1}">
              <a14:hiddenFill xmlns:a14="http://schemas.microsoft.com/office/drawing/2010/main">
                <a:solidFill>
                  <a:srgbClr val="FFFFFF"/>
                </a:solidFill>
              </a14:hiddenFill>
            </a:ext>
          </a:extLst>
        </p:spPr>
      </p:pic>
      <p:sp>
        <p:nvSpPr>
          <p:cNvPr id="7" name="Subtitle 2">
            <a:extLst>
              <a:ext uri="{FF2B5EF4-FFF2-40B4-BE49-F238E27FC236}">
                <a16:creationId xmlns:a16="http://schemas.microsoft.com/office/drawing/2014/main" id="{6C93EA7C-4733-4D7A-AFDD-7FB051134E8A}"/>
              </a:ext>
            </a:extLst>
          </p:cNvPr>
          <p:cNvSpPr txBox="1">
            <a:spLocks/>
          </p:cNvSpPr>
          <p:nvPr/>
        </p:nvSpPr>
        <p:spPr>
          <a:xfrm>
            <a:off x="1252451" y="6203140"/>
            <a:ext cx="5029986" cy="317500"/>
          </a:xfrm>
          <a:prstGeom prst="rect">
            <a:avLst/>
          </a:prstGeom>
        </p:spPr>
        <p:txBody>
          <a:bodyPr vert="horz" lIns="91440" tIns="45720" rIns="91440" bIns="45720" rtlCol="0">
            <a:normAutofit fontScale="62500" lnSpcReduction="20000"/>
          </a:bodyPr>
          <a:lstStyle>
            <a:lvl1pPr marL="0" indent="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None/>
              <a:defRPr sz="2400" kern="1200" cap="all" spc="200" baseline="0">
                <a:solidFill>
                  <a:schemeClr val="tx1"/>
                </a:solidFill>
                <a:latin typeface="+mn-lt"/>
                <a:ea typeface="+mn-ea"/>
                <a:cs typeface="+mn-cs"/>
              </a:defRPr>
            </a:lvl1pPr>
            <a:lvl2pPr marL="457200" indent="0" algn="ctr" defTabSz="914400" rtl="0" eaLnBrk="1" latinLnBrk="0" hangingPunct="1">
              <a:lnSpc>
                <a:spcPct val="100000"/>
              </a:lnSpc>
              <a:spcBef>
                <a:spcPts val="200"/>
              </a:spcBef>
              <a:spcAft>
                <a:spcPts val="400"/>
              </a:spcAft>
              <a:buClrTx/>
              <a:buFont typeface="Calibri" pitchFamily="34" charset="0"/>
              <a:buNone/>
              <a:defRPr sz="2400" kern="1200">
                <a:solidFill>
                  <a:schemeClr val="tx1">
                    <a:lumMod val="75000"/>
                    <a:lumOff val="25000"/>
                  </a:schemeClr>
                </a:solidFill>
                <a:latin typeface="+mn-lt"/>
                <a:ea typeface="+mn-ea"/>
                <a:cs typeface="+mn-cs"/>
              </a:defRPr>
            </a:lvl2pPr>
            <a:lvl3pPr marL="914400" indent="0" algn="ctr" defTabSz="914400" rtl="0" eaLnBrk="1" latinLnBrk="0" hangingPunct="1">
              <a:lnSpc>
                <a:spcPct val="100000"/>
              </a:lnSpc>
              <a:spcBef>
                <a:spcPts val="200"/>
              </a:spcBef>
              <a:spcAft>
                <a:spcPts val="400"/>
              </a:spcAft>
              <a:buClrTx/>
              <a:buFont typeface="Calibri" pitchFamily="34" charset="0"/>
              <a:buNone/>
              <a:defRPr sz="2400" kern="1200">
                <a:solidFill>
                  <a:schemeClr val="tx1">
                    <a:lumMod val="75000"/>
                    <a:lumOff val="25000"/>
                  </a:schemeClr>
                </a:solidFill>
                <a:latin typeface="+mn-lt"/>
                <a:ea typeface="+mn-ea"/>
                <a:cs typeface="+mn-cs"/>
              </a:defRPr>
            </a:lvl3pPr>
            <a:lvl4pPr marL="1371600" indent="0" algn="ctr" defTabSz="914400" rtl="0" eaLnBrk="1" latinLnBrk="0" hangingPunct="1">
              <a:lnSpc>
                <a:spcPct val="100000"/>
              </a:lnSpc>
              <a:spcBef>
                <a:spcPts val="200"/>
              </a:spcBef>
              <a:spcAft>
                <a:spcPts val="400"/>
              </a:spcAft>
              <a:buClrTx/>
              <a:buFont typeface="Calibri" pitchFamily="34" charset="0"/>
              <a:buNone/>
              <a:defRPr sz="2000" kern="1200">
                <a:solidFill>
                  <a:schemeClr val="tx1">
                    <a:lumMod val="75000"/>
                    <a:lumOff val="25000"/>
                  </a:schemeClr>
                </a:solidFill>
                <a:latin typeface="+mn-lt"/>
                <a:ea typeface="+mn-ea"/>
                <a:cs typeface="+mn-cs"/>
              </a:defRPr>
            </a:lvl4pPr>
            <a:lvl5pPr marL="1828800" indent="0" algn="ctr" defTabSz="914400" rtl="0" eaLnBrk="1" latinLnBrk="0" hangingPunct="1">
              <a:lnSpc>
                <a:spcPct val="100000"/>
              </a:lnSpc>
              <a:spcBef>
                <a:spcPts val="200"/>
              </a:spcBef>
              <a:spcAft>
                <a:spcPts val="400"/>
              </a:spcAft>
              <a:buClrTx/>
              <a:buFont typeface="Calibri" pitchFamily="34" charset="0"/>
              <a:buNone/>
              <a:defRPr sz="2000" kern="1200">
                <a:solidFill>
                  <a:schemeClr val="tx1">
                    <a:lumMod val="75000"/>
                    <a:lumOff val="25000"/>
                  </a:schemeClr>
                </a:solidFill>
                <a:latin typeface="+mn-lt"/>
                <a:ea typeface="+mn-ea"/>
                <a:cs typeface="+mn-cs"/>
              </a:defRPr>
            </a:lvl5pPr>
            <a:lvl6pPr marL="22860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6pPr>
            <a:lvl7pPr marL="27432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7pPr>
            <a:lvl8pPr marL="32004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8pPr>
            <a:lvl9pPr marL="36576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9pPr>
          </a:lstStyle>
          <a:p>
            <a:r>
              <a:rPr lang="en-US">
                <a:solidFill>
                  <a:srgbClr val="FFFFFF"/>
                </a:solidFill>
              </a:rPr>
              <a:t>Pencil drawn image </a:t>
            </a:r>
            <a:endParaRPr lang="en-US" dirty="0">
              <a:solidFill>
                <a:srgbClr val="FFFFFF"/>
              </a:solidFill>
            </a:endParaRPr>
          </a:p>
        </p:txBody>
      </p:sp>
    </p:spTree>
    <p:extLst>
      <p:ext uri="{BB962C8B-B14F-4D97-AF65-F5344CB8AC3E}">
        <p14:creationId xmlns:p14="http://schemas.microsoft.com/office/powerpoint/2010/main" val="37889389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7" name="Rectangle 46">
            <a:extLst>
              <a:ext uri="{FF2B5EF4-FFF2-40B4-BE49-F238E27FC236}">
                <a16:creationId xmlns:a16="http://schemas.microsoft.com/office/drawing/2014/main" id="{FBDCECDC-EEE3-4128-AA5E-82A8C08796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07"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AB2EA78-AEB3-469B-9025-3B17201A457B}"/>
              </a:ext>
            </a:extLst>
          </p:cNvPr>
          <p:cNvSpPr>
            <a:spLocks noGrp="1"/>
          </p:cNvSpPr>
          <p:nvPr>
            <p:ph type="ctrTitle"/>
          </p:nvPr>
        </p:nvSpPr>
        <p:spPr>
          <a:xfrm>
            <a:off x="1097280" y="758952"/>
            <a:ext cx="10058400" cy="3892168"/>
          </a:xfrm>
        </p:spPr>
        <p:txBody>
          <a:bodyPr anchor="ctr">
            <a:normAutofit/>
          </a:bodyPr>
          <a:lstStyle/>
          <a:p>
            <a:r>
              <a:rPr lang="en-US" sz="2800" b="1" dirty="0"/>
              <a:t>Availability and Conservation</a:t>
            </a:r>
            <a:br>
              <a:rPr lang="en-US" sz="2800" b="1" dirty="0"/>
            </a:br>
            <a:r>
              <a:rPr lang="en-US" sz="2800" b="1" dirty="0"/>
              <a:t>Widely distributed across India, Sri Lanka, and introduced in Africa, Australia, and U.S. parks.</a:t>
            </a:r>
            <a:br>
              <a:rPr lang="en-US" sz="2800" b="1" dirty="0"/>
            </a:br>
            <a:r>
              <a:rPr lang="en-US" sz="2800" b="1" dirty="0"/>
              <a:t>Protected under Schedule I of the Indian Wildlife Protection Act, 1972.</a:t>
            </a:r>
            <a:br>
              <a:rPr lang="en-US" sz="2800" b="1" dirty="0"/>
            </a:br>
            <a:r>
              <a:rPr lang="en-US" sz="2800" b="1" dirty="0"/>
              <a:t>Threats include habitat loss and illegal hunting for feathers, though populations remain stable in many regions.</a:t>
            </a:r>
          </a:p>
        </p:txBody>
      </p:sp>
      <p:sp>
        <p:nvSpPr>
          <p:cNvPr id="49" name="Rectangle 48">
            <a:extLst>
              <a:ext uri="{FF2B5EF4-FFF2-40B4-BE49-F238E27FC236}">
                <a16:creationId xmlns:a16="http://schemas.microsoft.com/office/drawing/2014/main" id="{4260EDE0-989C-4E16-AF94-F652294D82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07" y="4953000"/>
            <a:ext cx="12188952" cy="1905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Subtitle 2">
            <a:extLst>
              <a:ext uri="{FF2B5EF4-FFF2-40B4-BE49-F238E27FC236}">
                <a16:creationId xmlns:a16="http://schemas.microsoft.com/office/drawing/2014/main" id="{255E1F2F-E259-4EA8-9FFD-3A10AF541859}"/>
              </a:ext>
            </a:extLst>
          </p:cNvPr>
          <p:cNvSpPr>
            <a:spLocks noGrp="1"/>
          </p:cNvSpPr>
          <p:nvPr>
            <p:ph type="subTitle" idx="1"/>
          </p:nvPr>
        </p:nvSpPr>
        <p:spPr>
          <a:xfrm>
            <a:off x="1100051" y="5225240"/>
            <a:ext cx="10058400" cy="1143000"/>
          </a:xfrm>
        </p:spPr>
        <p:txBody>
          <a:bodyPr>
            <a:normAutofit/>
          </a:bodyPr>
          <a:lstStyle/>
          <a:p>
            <a:r>
              <a:rPr lang="en-US" dirty="0">
                <a:solidFill>
                  <a:srgbClr val="FFFFFF"/>
                </a:solidFill>
              </a:rPr>
              <a:t>Right side is the picture of peacock</a:t>
            </a:r>
          </a:p>
        </p:txBody>
      </p:sp>
      <p:pic>
        <p:nvPicPr>
          <p:cNvPr id="2050" name="Picture 2" descr="0">
            <a:extLst>
              <a:ext uri="{FF2B5EF4-FFF2-40B4-BE49-F238E27FC236}">
                <a16:creationId xmlns:a16="http://schemas.microsoft.com/office/drawing/2014/main" id="{C21A5A29-313F-4C8F-A4AE-51609300972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99604" y="4999168"/>
            <a:ext cx="2666372" cy="17770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06516297"/>
      </p:ext>
    </p:extLst>
  </p:cSld>
  <p:clrMapOvr>
    <a:masterClrMapping/>
  </p:clrMapOvr>
</p:sld>
</file>

<file path=ppt/theme/theme1.xml><?xml version="1.0" encoding="utf-8"?>
<a:theme xmlns:a="http://schemas.openxmlformats.org/drawingml/2006/main" name="Custom">
  <a:themeElements>
    <a:clrScheme name="Custom 37">
      <a:dk1>
        <a:srgbClr val="000000"/>
      </a:dk1>
      <a:lt1>
        <a:srgbClr val="FFFFFF"/>
      </a:lt1>
      <a:dk2>
        <a:srgbClr val="4A5356"/>
      </a:dk2>
      <a:lt2>
        <a:srgbClr val="E8E3CE"/>
      </a:lt2>
      <a:accent1>
        <a:srgbClr val="9BA8B7"/>
      </a:accent1>
      <a:accent2>
        <a:srgbClr val="E6A02E"/>
      </a:accent2>
      <a:accent3>
        <a:srgbClr val="BF6A3B"/>
      </a:accent3>
      <a:accent4>
        <a:srgbClr val="92987A"/>
      </a:accent4>
      <a:accent5>
        <a:srgbClr val="857659"/>
      </a:accent5>
      <a:accent6>
        <a:srgbClr val="A0988C"/>
      </a:accent6>
      <a:hlink>
        <a:srgbClr val="00B0F0"/>
      </a:hlink>
      <a:folHlink>
        <a:srgbClr val="738F97"/>
      </a:folHlink>
    </a:clrScheme>
    <a:fontScheme name="Retrospect">
      <a:majorFont>
        <a:latin typeface="Bookman Old Style"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Franklin Gothic Book"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TWO.pptx" id="{80AA9D2D-EE59-4148-A11E-A51EEE828B28}" vid="{AEAFD717-D3C8-4034-8F7E-D5220B0CCEB8}"/>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7" ma:contentTypeDescription="Create a new document." ma:contentTypeScope="" ma:versionID="c6f9a84f66a9c8b9a21755b9ffafb945">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27df39e3e7036dff54f89ddd5805ce72"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F4F4D41-822D-40F2-A7AC-E4E6CB36CA7A}">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19DAD249-BF80-48EF-9AFB-36A11BCDC2CE}">
  <ds:schemaRefs>
    <ds:schemaRef ds:uri="http://schemas.microsoft.com/sharepoint/v3/contenttype/forms"/>
  </ds:schemaRefs>
</ds:datastoreItem>
</file>

<file path=customXml/itemProps3.xml><?xml version="1.0" encoding="utf-8"?>
<ds:datastoreItem xmlns:ds="http://schemas.openxmlformats.org/officeDocument/2006/customXml" ds:itemID="{C5A59D56-2157-4202-9D02-F44E447A241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{B211D528-1CD9-4F12-A9B9-774779EBB80A}TFf0a5ceae-4542-492d-822e-d65a94fb0e1e3b562c5a_win32-009a0557e699</Template>
  <TotalTime>6</TotalTime>
  <Words>333</Words>
  <Application>Microsoft Office PowerPoint</Application>
  <PresentationFormat>Widescreen</PresentationFormat>
  <Paragraphs>17</Paragraphs>
  <Slides>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Bookman Old Style</vt:lpstr>
      <vt:lpstr>Calibri</vt:lpstr>
      <vt:lpstr>Franklin Gothic Book</vt:lpstr>
      <vt:lpstr>Custom</vt:lpstr>
      <vt:lpstr>The peacock</vt:lpstr>
      <vt:lpstr>General Information Scientific name: Pavo cristatus Family: Phasianidae (same family as pheasants) Native range: Indian subcontinent — found across India, Sri Lanka, and parts of Myanmar. National bird of India: Symbolizes grace, pride, and beauty.</vt:lpstr>
      <vt:lpstr>Natural Habitat Prefers open forests, farmlands, and grasslands near water sources. Commonly seen in semi‑dry regions and village outskirts where food and shelter are abundant. Roosts on tall trees at night to stay safe from predators.</vt:lpstr>
      <vt:lpstr>Food Habits Peacocks are omnivorous: •  Plant-based: Seeds, grains, fruits, berries, and tender shoots. •  Animal-based: Insects, small reptiles, frogs, and even snakes. •  They help control pests in agricultural areas — a natural benefit to farmers.</vt:lpstr>
      <vt:lpstr>Male peacock: Brilliant metallic blue and green plumage, long iridescent tail feathers (“train”) with eye‑like patterns.</vt:lpstr>
      <vt:lpstr>Female(peahen) Brownish‑grey with green neck feathers; lacks the long train.</vt:lpstr>
      <vt:lpstr>Behavior and Breeding Breeding season: Monsoon months (June–September). Males perform elaborate dances and calls to attract females. Females lay 3–6 eggs in shallow ground nests. Chicks can walk and feed themselves within hours of hatching.</vt:lpstr>
      <vt:lpstr>Availability and Conservation Widely distributed across India, Sri Lanka, and introduced in Africa, Australia, and U.S. parks. Protected under Schedule I of the Indian Wildlife Protection Act, 1972. Threats include habitat loss and illegal hunting for feathers, though populations remain stable in many regions.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peacock</dc:title>
  <dc:creator>Jeyaseelan Jeyabaskaran</dc:creator>
  <cp:lastModifiedBy>Jeyaseelan Jeyabaskaran</cp:lastModifiedBy>
  <cp:revision>5</cp:revision>
  <dcterms:created xsi:type="dcterms:W3CDTF">2026-04-29T12:05:21Z</dcterms:created>
  <dcterms:modified xsi:type="dcterms:W3CDTF">2026-04-29T12:12:01Z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